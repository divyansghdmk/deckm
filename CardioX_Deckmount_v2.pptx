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40233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080808">
              <a:alpha val="65000"/>
            </a:srgbClr>
          </a:solidFill>
          <a:ln w="12700">
            <a:solidFill>
              <a:srgbClr val="080808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" y="2194560"/>
            <a:ext cx="3840480" cy="6858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005072" y="0"/>
            <a:ext cx="22860" cy="514350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56032" y="256032"/>
            <a:ext cx="475488" cy="475488"/>
          </a:xfrm>
          <a:prstGeom prst="ellipse">
            <a:avLst/>
          </a:prstGeom>
          <a:solidFill>
            <a:srgbClr val="E8640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56032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04672" y="310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CARDIO</a:t>
            </a:r>
            <a:pPr indent="0" marL="0">
              <a:buNone/>
            </a:pPr>
            <a:r>
              <a:rPr lang="en-US" sz="1100" b="1" spc="300" kern="0" dirty="0">
                <a:solidFill>
                  <a:srgbClr val="E8640A"/>
                </a:solidFill>
              </a:rPr>
              <a:t>X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04672" y="530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DECKMOUNT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201168" y="1005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201168" y="1572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6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Waveform</a:t>
            </a:r>
            <a:endParaRPr lang="en-US" sz="3800" dirty="0"/>
          </a:p>
        </p:txBody>
      </p:sp>
      <p:sp>
        <p:nvSpPr>
          <p:cNvPr id="12" name="Text 8"/>
          <p:cNvSpPr/>
          <p:nvPr/>
        </p:nvSpPr>
        <p:spPr>
          <a:xfrm>
            <a:off x="201168" y="2267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Clinical Bottleneck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01168" y="3017520"/>
            <a:ext cx="111556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7A300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01168" y="3035808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201168" y="323697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BPM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435608" y="3017520"/>
            <a:ext cx="111556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7A300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435608" y="3035808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435608" y="323697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ms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2670048" y="3017520"/>
            <a:ext cx="1115568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7A300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670048" y="3035808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QTc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2670048" y="323697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251960" y="274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224528" y="621792"/>
            <a:ext cx="224028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224528" y="621792"/>
            <a:ext cx="36576" cy="1828800"/>
          </a:xfrm>
          <a:prstGeom prst="rect">
            <a:avLst/>
          </a:prstGeom>
          <a:solidFill>
            <a:srgbClr val="FF4433"/>
          </a:solidFill>
          <a:ln w="12700">
            <a:solidFill>
              <a:srgbClr val="FF443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352544" y="768096"/>
            <a:ext cx="420624" cy="420624"/>
          </a:xfrm>
          <a:prstGeom prst="ellipse">
            <a:avLst/>
          </a:prstGeom>
          <a:solidFill>
            <a:srgbClr val="0E0E0E"/>
          </a:solidFill>
          <a:ln w="12700">
            <a:solidFill>
              <a:srgbClr val="FF4433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832104"/>
            <a:ext cx="292608" cy="29260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806440" y="822960"/>
            <a:ext cx="566928" cy="182880"/>
          </a:xfrm>
          <a:prstGeom prst="rect">
            <a:avLst/>
          </a:prstGeom>
          <a:solidFill>
            <a:srgbClr val="080808"/>
          </a:solidFill>
          <a:ln w="6350">
            <a:solidFill>
              <a:srgbClr val="FF44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806440" y="8229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4352544" y="1261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352544" y="1609344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data locked in offline machines — remote consultation impossible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601968" y="621792"/>
            <a:ext cx="224028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601968" y="621792"/>
            <a:ext cx="36576" cy="182880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729984" y="768096"/>
            <a:ext cx="420624" cy="420624"/>
          </a:xfrm>
          <a:prstGeom prst="ellipse">
            <a:avLst/>
          </a:prstGeom>
          <a:solidFill>
            <a:srgbClr val="0E0E0E"/>
          </a:solidFill>
          <a:ln w="12700">
            <a:solidFill>
              <a:srgbClr val="E8640A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832104"/>
            <a:ext cx="292608" cy="292608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183880" y="822960"/>
            <a:ext cx="566928" cy="182880"/>
          </a:xfrm>
          <a:prstGeom prst="rect">
            <a:avLst/>
          </a:prstGeom>
          <a:solidFill>
            <a:srgbClr val="080808"/>
          </a:solidFill>
          <a:ln w="6350">
            <a:solidFill>
              <a:srgbClr val="E8640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183880" y="8229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37" name="Text 31"/>
          <p:cNvSpPr/>
          <p:nvPr/>
        </p:nvSpPr>
        <p:spPr>
          <a:xfrm>
            <a:off x="6729984" y="1261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Interpretation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6729984" y="1609344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PR, QRS, QT calculation leads to human error and critical delays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224528" y="2670048"/>
            <a:ext cx="224028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224528" y="2670048"/>
            <a:ext cx="36576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352544" y="2816352"/>
            <a:ext cx="420624" cy="420624"/>
          </a:xfrm>
          <a:prstGeom prst="ellipse">
            <a:avLst/>
          </a:prstGeom>
          <a:solidFill>
            <a:srgbClr val="0E0E0E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6552" y="2880360"/>
            <a:ext cx="292608" cy="292608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5806440" y="2871216"/>
            <a:ext cx="566928" cy="182880"/>
          </a:xfrm>
          <a:prstGeom prst="rect">
            <a:avLst/>
          </a:prstGeom>
          <a:solidFill>
            <a:srgbClr val="080808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806440" y="28712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45" name="Text 38"/>
          <p:cNvSpPr/>
          <p:nvPr/>
        </p:nvSpPr>
        <p:spPr>
          <a:xfrm>
            <a:off x="4352544" y="33101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Care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4352544" y="3657600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managed cardiac + respiratory data simultaneously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6601968" y="2670048"/>
            <a:ext cx="224028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6601968" y="2670048"/>
            <a:ext cx="36576" cy="1828800"/>
          </a:xfrm>
          <a:prstGeom prst="rect">
            <a:avLst/>
          </a:prstGeom>
          <a:solidFill>
            <a:srgbClr val="888074"/>
          </a:solidFill>
          <a:ln w="12700">
            <a:solidFill>
              <a:srgbClr val="888074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6729984" y="2816352"/>
            <a:ext cx="420624" cy="420624"/>
          </a:xfrm>
          <a:prstGeom prst="ellipse">
            <a:avLst/>
          </a:prstGeom>
          <a:solidFill>
            <a:srgbClr val="0E0E0E"/>
          </a:solidFill>
          <a:ln w="12700">
            <a:solidFill>
              <a:srgbClr val="888074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2880360"/>
            <a:ext cx="292608" cy="292608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8183880" y="2871216"/>
            <a:ext cx="566928" cy="182880"/>
          </a:xfrm>
          <a:prstGeom prst="rect">
            <a:avLst/>
          </a:prstGeom>
          <a:solidFill>
            <a:srgbClr val="080808"/>
          </a:solidFill>
          <a:ln w="6350">
            <a:solidFill>
              <a:srgbClr val="888074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8183880" y="28712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50" dirty="0"/>
          </a:p>
        </p:txBody>
      </p:sp>
      <p:sp>
        <p:nvSpPr>
          <p:cNvPr id="53" name="Text 45"/>
          <p:cNvSpPr/>
          <p:nvPr/>
        </p:nvSpPr>
        <p:spPr>
          <a:xfrm>
            <a:off x="6729984" y="33101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Friction</a:t>
            </a:r>
            <a:endParaRPr lang="en-US" sz="1050" dirty="0"/>
          </a:p>
        </p:txBody>
      </p:sp>
      <p:sp>
        <p:nvSpPr>
          <p:cNvPr id="54" name="Text 46"/>
          <p:cNvSpPr/>
          <p:nvPr/>
        </p:nvSpPr>
        <p:spPr>
          <a:xfrm>
            <a:off x="6729984" y="3657600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role management slowing emergency responses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4224528" y="4663440"/>
            <a:ext cx="4663440" cy="347472"/>
          </a:xfrm>
          <a:prstGeom prst="rect">
            <a:avLst/>
          </a:prstGeom>
          <a:solidFill>
            <a:srgbClr val="7A3005">
              <a:alpha val="60000"/>
            </a:srgbClr>
          </a:solidFill>
          <a:ln w="9525">
            <a:solidFill>
              <a:srgbClr val="E8640A"/>
            </a:solidFill>
            <a:prstDash val="solid"/>
          </a:ln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3400" y="4709160"/>
            <a:ext cx="228600" cy="22860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4617720" y="46634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Omni-Channel Clinical Hub — hospital-grade diagnostics on any device, anywhere.</a:t>
            </a:r>
            <a:endParaRPr lang="en-US" sz="850" dirty="0"/>
          </a:p>
        </p:txBody>
      </p:sp>
      <p:sp>
        <p:nvSpPr>
          <p:cNvPr id="58" name="Text 49"/>
          <p:cNvSpPr/>
          <p:nvPr/>
        </p:nvSpPr>
        <p:spPr>
          <a:xfrm>
            <a:off x="813816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94944"/>
            <a:ext cx="9144000" cy="2286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3657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CardioX Edge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28600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Speed, Intelligence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680960" y="155448"/>
            <a:ext cx="365760" cy="365760"/>
          </a:xfrm>
          <a:prstGeom prst="ellipse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55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101584" y="2377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CARDIO</a:t>
            </a:r>
            <a:pPr indent="0" marL="0">
              <a:buNone/>
            </a:pPr>
            <a:r>
              <a:rPr lang="en-US" sz="900" b="1" spc="150" kern="0" dirty="0">
                <a:solidFill>
                  <a:srgbClr val="E8640A"/>
                </a:solidFill>
              </a:rPr>
              <a:t>X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256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7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749808"/>
            <a:ext cx="9144000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" y="1261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28600" y="1536192"/>
            <a:ext cx="4160520" cy="731520"/>
          </a:xfrm>
          <a:prstGeom prst="rect">
            <a:avLst/>
          </a:prstGeom>
          <a:solidFill>
            <a:srgbClr val="111111"/>
          </a:solidFill>
          <a:ln w="9525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28600" y="1536192"/>
            <a:ext cx="4160520" cy="36576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67335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" y="1609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12-Lead Precision Visualization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04672" y="190195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Hospital-grade filtering (Baseline, Notch, Muscle) · Instant 12:1 / 6:2 layout switching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228600" y="2386584"/>
            <a:ext cx="4160520" cy="731520"/>
          </a:xfrm>
          <a:prstGeom prst="rect">
            <a:avLst/>
          </a:prstGeom>
          <a:solidFill>
            <a:srgbClr val="111111"/>
          </a:solidFill>
          <a:ln w="9525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8600" y="2386584"/>
            <a:ext cx="41605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52374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" y="2459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Metrics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04672" y="275234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HR, Axis, PR, QRS, QT/QTc via Pan-Tompkins + Butterworth algorithms</a:t>
            </a:r>
            <a:endParaRPr lang="en-US" sz="820" dirty="0"/>
          </a:p>
        </p:txBody>
      </p:sp>
      <p:sp>
        <p:nvSpPr>
          <p:cNvPr id="23" name="Shape 17"/>
          <p:cNvSpPr/>
          <p:nvPr/>
        </p:nvSpPr>
        <p:spPr>
          <a:xfrm>
            <a:off x="228600" y="3236976"/>
            <a:ext cx="4160520" cy="731520"/>
          </a:xfrm>
          <a:prstGeom prst="rect">
            <a:avLst/>
          </a:prstGeom>
          <a:solidFill>
            <a:srgbClr val="111111"/>
          </a:solidFill>
          <a:ln w="9525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28600" y="3236976"/>
            <a:ext cx="4160520" cy="36576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374136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4672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Respiratory Dashboard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804672" y="3602736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First-in-class CPAP/BiPAP (AutoCPAP, S, T, ST, VAPS) unified with cardiac data</a:t>
            </a:r>
            <a:endParaRPr lang="en-US" sz="820" dirty="0"/>
          </a:p>
        </p:txBody>
      </p:sp>
      <p:sp>
        <p:nvSpPr>
          <p:cNvPr id="28" name="Shape 21"/>
          <p:cNvSpPr/>
          <p:nvPr/>
        </p:nvSpPr>
        <p:spPr>
          <a:xfrm>
            <a:off x="228600" y="4087368"/>
            <a:ext cx="4160520" cy="731520"/>
          </a:xfrm>
          <a:prstGeom prst="rect">
            <a:avLst/>
          </a:prstGeom>
          <a:solidFill>
            <a:srgbClr val="111111"/>
          </a:solidFill>
          <a:ln w="9525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228600" y="4087368"/>
            <a:ext cx="41605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" y="4224528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04672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Reporting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804672" y="445312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+ JSON · Secure AWS S3/Azure/GCS distribution · Doctor signatures</a:t>
            </a:r>
            <a:endParaRPr lang="en-US" sz="820" dirty="0"/>
          </a:p>
        </p:txBody>
      </p:sp>
      <p:sp>
        <p:nvSpPr>
          <p:cNvPr id="33" name="Text 25"/>
          <p:cNvSpPr/>
          <p:nvPr/>
        </p:nvSpPr>
        <p:spPr>
          <a:xfrm>
            <a:off x="4663440" y="12618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36192"/>
          <a:ext cx="4251960" cy="3383280"/>
        </p:xfrm>
        <a:graphic>
          <a:graphicData uri="http://schemas.openxmlformats.org/drawingml/2006/table">
            <a:tbl>
              <a:tblPr/>
              <a:tblGrid>
                <a:gridCol w="192024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074"/>
                          </a:solidFill>
                        </a:rPr>
                        <a:t>Traditional ECG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0808"/>
                          </a:solidFill>
                        </a:rPr>
                        <a:t>CardioX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4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8074"/>
                          </a:solidFill>
                        </a:rPr>
                        <a:t>Paper-based reports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0D8"/>
                          </a:solidFill>
                        </a:rPr>
                        <a:t>Cloud-synced · PDF + JSON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7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8074"/>
                          </a:solidFill>
                        </a:rPr>
                        <a:t>Manual interval calc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0D8"/>
                          </a:solidFill>
                        </a:rPr>
                        <a:t>AI-automated (Pan-Tompkins)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9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8074"/>
                          </a:solidFill>
                        </a:rPr>
                        <a:t>Offline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0D8"/>
                          </a:solidFill>
                        </a:rPr>
                        <a:t>Offline-first · smart sync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7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8074"/>
                          </a:solidFill>
                        </a:rPr>
                        <a:t>ECG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0D8"/>
                          </a:solidFill>
                        </a:rPr>
                        <a:t>ECG + CPAP/BiPAP combined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9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8074"/>
                          </a:solidFill>
                        </a:rPr>
                        <a:t>No AI assistant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0D8"/>
                          </a:solidFill>
                        </a:rPr>
                        <a:t>Cardmia AI Chatbot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7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88074"/>
                          </a:solidFill>
                        </a:rPr>
                        <a:t>High CPU usage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E0D8"/>
                          </a:solidFill>
                        </a:rPr>
                        <a:t>~20–30% CPU footprint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900"/>
                    </a:solidFill>
                  </a:tcPr>
                </a:tc>
              </a:tr>
            </a:tbl>
          </a:graphicData>
        </a:graphic>
      </p:graphicFrame>
      <p:sp>
        <p:nvSpPr>
          <p:cNvPr id="35" name="Shape 26"/>
          <p:cNvSpPr/>
          <p:nvPr/>
        </p:nvSpPr>
        <p:spPr>
          <a:xfrm>
            <a:off x="228600" y="4782312"/>
            <a:ext cx="8686800" cy="246888"/>
          </a:xfrm>
          <a:prstGeom prst="rect">
            <a:avLst/>
          </a:prstGeom>
          <a:solidFill>
            <a:srgbClr val="0D0D0D"/>
          </a:solidFill>
          <a:ln w="9525">
            <a:solidFill>
              <a:srgbClr val="7A3005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228600" y="4782312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Offline-First Workflow     |     🤖  Cardmia AI Chatbot     |     💻  20–30% CPU Footprint     |     🔐  Biometric Passkeys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94944"/>
            <a:ext cx="9144000" cy="2286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26680" y="155448"/>
            <a:ext cx="365760" cy="365760"/>
          </a:xfrm>
          <a:prstGeom prst="ellipse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55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2377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CARDIO</a:t>
            </a:r>
            <a:pPr indent="0" marL="0">
              <a:buNone/>
            </a:pPr>
            <a:r>
              <a:rPr lang="en-US" sz="900" b="1" spc="150" kern="0" dirty="0">
                <a:solidFill>
                  <a:srgbClr val="E8640A"/>
                </a:solidFill>
              </a:rPr>
              <a:t>X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28600" y="4572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CardioX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28600" y="4754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&amp; Proactive Care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256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7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749808"/>
            <a:ext cx="9144000" cy="4754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2880" y="1325880"/>
            <a:ext cx="2066544" cy="2606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82880" y="1325880"/>
            <a:ext cx="2066544" cy="4572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737360" y="1399032"/>
            <a:ext cx="420624" cy="219456"/>
          </a:xfrm>
          <a:prstGeom prst="rect">
            <a:avLst/>
          </a:prstGeom>
          <a:solidFill>
            <a:srgbClr val="080808"/>
          </a:solidFill>
          <a:ln w="9525">
            <a:solidFill>
              <a:srgbClr val="E864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737360" y="13990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10896" y="1417320"/>
            <a:ext cx="475488" cy="47548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E8640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" y="148132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2608" y="198424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Rhythm Intelligence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292608" y="2478024"/>
            <a:ext cx="1883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AFib, Tachycardia, Bradycardia, PVCs — real-time arrhythmia alerts replacing manual review</a:t>
            </a:r>
            <a:endParaRPr lang="en-US" sz="880" dirty="0"/>
          </a:p>
        </p:txBody>
      </p:sp>
      <p:sp>
        <p:nvSpPr>
          <p:cNvPr id="20" name="Shape 15"/>
          <p:cNvSpPr/>
          <p:nvPr/>
        </p:nvSpPr>
        <p:spPr>
          <a:xfrm>
            <a:off x="292608" y="3611880"/>
            <a:ext cx="621792" cy="201168"/>
          </a:xfrm>
          <a:prstGeom prst="rect">
            <a:avLst/>
          </a:prstGeom>
          <a:solidFill>
            <a:srgbClr val="080808"/>
          </a:solidFill>
          <a:ln w="9525">
            <a:solidFill>
              <a:srgbClr val="E8640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92608" y="36118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2395728" y="1325880"/>
            <a:ext cx="2066544" cy="2606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395728" y="1325880"/>
            <a:ext cx="2066544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950208" y="1399032"/>
            <a:ext cx="420624" cy="219456"/>
          </a:xfrm>
          <a:prstGeom prst="rect">
            <a:avLst/>
          </a:prstGeom>
          <a:solidFill>
            <a:srgbClr val="0808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950208" y="13990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2523744" y="1417320"/>
            <a:ext cx="475488" cy="47548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7752" y="1481328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505456" y="198424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Cardiac Alerts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2505456" y="2478024"/>
            <a:ext cx="1883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 on historical ECG data predict cardiac events before they escalate to emergencies</a:t>
            </a:r>
            <a:endParaRPr lang="en-US" sz="880" dirty="0"/>
          </a:p>
        </p:txBody>
      </p:sp>
      <p:sp>
        <p:nvSpPr>
          <p:cNvPr id="30" name="Shape 24"/>
          <p:cNvSpPr/>
          <p:nvPr/>
        </p:nvSpPr>
        <p:spPr>
          <a:xfrm>
            <a:off x="2505456" y="3611880"/>
            <a:ext cx="621792" cy="201168"/>
          </a:xfrm>
          <a:prstGeom prst="rect">
            <a:avLst/>
          </a:prstGeom>
          <a:solidFill>
            <a:srgbClr val="0808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505456" y="36118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4608576" y="1325880"/>
            <a:ext cx="2066544" cy="2606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608576" y="1325880"/>
            <a:ext cx="2066544" cy="45720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163056" y="1399032"/>
            <a:ext cx="420624" cy="219456"/>
          </a:xfrm>
          <a:prstGeom prst="rect">
            <a:avLst/>
          </a:prstGeom>
          <a:solidFill>
            <a:srgbClr val="080808"/>
          </a:solidFill>
          <a:ln w="9525">
            <a:solidFill>
              <a:srgbClr val="00C8B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163056" y="13990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4736592" y="1417320"/>
            <a:ext cx="475488" cy="47548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00C8B4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481328"/>
            <a:ext cx="347472" cy="34747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718304" y="198424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HIS Integration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4718304" y="2478024"/>
            <a:ext cx="1883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HL7/FHIR connectivity with global Hospital Information Systems — zero custom dev</a:t>
            </a:r>
            <a:endParaRPr lang="en-US" sz="880" dirty="0"/>
          </a:p>
        </p:txBody>
      </p:sp>
      <p:sp>
        <p:nvSpPr>
          <p:cNvPr id="40" name="Shape 33"/>
          <p:cNvSpPr/>
          <p:nvPr/>
        </p:nvSpPr>
        <p:spPr>
          <a:xfrm>
            <a:off x="4718304" y="3611880"/>
            <a:ext cx="621792" cy="201168"/>
          </a:xfrm>
          <a:prstGeom prst="rect">
            <a:avLst/>
          </a:prstGeom>
          <a:solidFill>
            <a:srgbClr val="080808"/>
          </a:solidFill>
          <a:ln w="9525">
            <a:solidFill>
              <a:srgbClr val="00C8B4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718304" y="36118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750" dirty="0"/>
          </a:p>
        </p:txBody>
      </p:sp>
      <p:sp>
        <p:nvSpPr>
          <p:cNvPr id="42" name="Shape 35"/>
          <p:cNvSpPr/>
          <p:nvPr/>
        </p:nvSpPr>
        <p:spPr>
          <a:xfrm>
            <a:off x="6821424" y="1325880"/>
            <a:ext cx="2066544" cy="2606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821424" y="1325880"/>
            <a:ext cx="2066544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375904" y="1399032"/>
            <a:ext cx="420624" cy="219456"/>
          </a:xfrm>
          <a:prstGeom prst="rect">
            <a:avLst/>
          </a:prstGeom>
          <a:solidFill>
            <a:srgbClr val="0808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8375904" y="13990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6949440" y="1417320"/>
            <a:ext cx="475488" cy="475488"/>
          </a:xfrm>
          <a:prstGeom prst="ellipse">
            <a:avLst/>
          </a:prstGeom>
          <a:solidFill>
            <a:srgbClr val="0E0E0E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1481328"/>
            <a:ext cx="347472" cy="34747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931152" y="198424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Passkey Auth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6931152" y="2478024"/>
            <a:ext cx="1883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88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and fingerprint login replacing passwords — faster emergency room access, zero security compromise</a:t>
            </a:r>
            <a:endParaRPr lang="en-US" sz="880" dirty="0"/>
          </a:p>
        </p:txBody>
      </p:sp>
      <p:sp>
        <p:nvSpPr>
          <p:cNvPr id="50" name="Shape 42"/>
          <p:cNvSpPr/>
          <p:nvPr/>
        </p:nvSpPr>
        <p:spPr>
          <a:xfrm>
            <a:off x="6931152" y="3611880"/>
            <a:ext cx="621792" cy="201168"/>
          </a:xfrm>
          <a:prstGeom prst="rect">
            <a:avLst/>
          </a:prstGeom>
          <a:solidFill>
            <a:srgbClr val="0808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6931152" y="36118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750" dirty="0"/>
          </a:p>
        </p:txBody>
      </p:sp>
      <p:sp>
        <p:nvSpPr>
          <p:cNvPr id="52" name="Shape 44"/>
          <p:cNvSpPr/>
          <p:nvPr/>
        </p:nvSpPr>
        <p:spPr>
          <a:xfrm>
            <a:off x="182880" y="4041648"/>
            <a:ext cx="877824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7A300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182880" y="4041648"/>
            <a:ext cx="45720" cy="96012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4242816"/>
            <a:ext cx="384048" cy="38404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896112" y="409651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50" kern="0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750" dirty="0"/>
          </a:p>
        </p:txBody>
      </p:sp>
      <p:sp>
        <p:nvSpPr>
          <p:cNvPr id="56" name="Text 47"/>
          <p:cNvSpPr/>
          <p:nvPr/>
        </p:nvSpPr>
        <p:spPr>
          <a:xfrm>
            <a:off x="896112" y="43159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CardioX from a monitoring tool into a proactive diagnostic partner — saving lives through early detection and seamless clinical collaboration, accessible from any device, anywhere in the world.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CardioX by Deckmount</dc:title>
  <dc:subject>PptxGenJS Presentation</dc:subject>
  <dc:creator>PptxGenJS</dc:creator>
  <cp:lastModifiedBy>PptxGenJS</cp:lastModifiedBy>
  <cp:revision>1</cp:revision>
  <dcterms:created xsi:type="dcterms:W3CDTF">2026-05-13T07:49:56Z</dcterms:created>
  <dcterms:modified xsi:type="dcterms:W3CDTF">2026-05-13T07:49:56Z</dcterms:modified>
</cp:coreProperties>
</file>